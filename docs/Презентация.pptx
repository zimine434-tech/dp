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52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48F2D-9A2A-4F04-8C73-95AA1718E8C1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DCBC3A-E54B-432E-A7E9-EE7511FFE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099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DCBC3A-E54B-432E-A7E9-EE7511FFE6E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290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1B90E-C52B-4835-A57E-D9DD6F923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BC73848-FAAE-4906-86F9-147290463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28172F-A290-4714-B2C8-DB992623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DA8A-153A-4CFA-B755-7C4559CB519D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077541-F716-4455-90B3-DA9D4E94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37CF84-89B8-481F-9C39-9BE0CA7AA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1428-30E9-4B6D-AAC5-F2F64D435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632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0852F-424B-4780-B6E2-EFDD00FF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2F748-81EC-4FF0-BEDB-8148920C4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EB8ED8-705B-4B5D-AE71-7D4EF691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DA8A-153A-4CFA-B755-7C4559CB519D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46D793-8AFC-4148-A742-23256DD3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6DDFD7-3B1E-4CA0-8FAB-4B391E99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1428-30E9-4B6D-AAC5-F2F64D435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83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6FE310-B509-45CC-8D2D-40927565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BCD3B9-7AF0-42F0-9D03-9E99C50BC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2B4D6A-CB5D-4A9F-B472-F39F2EEC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DA8A-153A-4CFA-B755-7C4559CB519D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67BC20-D6BF-4348-A439-0E127319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5776CC-559F-49B2-BF97-E9C71761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1428-30E9-4B6D-AAC5-F2F64D435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891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F96C6-6F1B-4B37-A956-16C362CE7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A77A4F-D6DC-4D24-A597-44237375A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E4F974-6C39-4FD5-B6E5-AB438B119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F68FA7-E334-41D6-8F0C-B1C913F6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DA8A-153A-4CFA-B755-7C4559CB519D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F80903-C26C-4274-BEE1-C28B5B32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4AFAB7-12E3-41BF-B18B-4C14E22EF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1428-30E9-4B6D-AAC5-F2F64D435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73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C6B0C-9AAC-4B2F-B844-2E0237AE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2F44D6-9872-4989-BB54-5FCA2C3F2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2F5EA1-9B5E-42AF-B888-8D6BBA5FE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3A38F1-27F5-42D0-A4A2-54C7E8BB30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D218C5-2F17-41E0-8418-7EE8E2423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AED57B0-EEC1-4999-9CB6-5BF1D16EB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DA8A-153A-4CFA-B755-7C4559CB519D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822A3D1-9F90-4B15-8888-792AA60E2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A0638BA-1FB0-464D-B2E2-7C596E8C1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1428-30E9-4B6D-AAC5-F2F64D435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4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A751E-2553-466E-B189-263C39BBA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C1663AE-C30B-44C7-8AD3-3FD6DF925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DA8A-153A-4CFA-B755-7C4559CB519D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40E048F-EF6B-475A-8718-7ED81235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3B5462-1BCB-4DA6-94B0-86DF1037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1428-30E9-4B6D-AAC5-F2F64D435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39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B52BBF-62B4-4AE5-A7FD-B540FC5DF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DA8A-153A-4CFA-B755-7C4559CB519D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228E8F7-5581-457F-A561-AEF94812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C10882-19F8-456A-8862-6A707B2FD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1428-30E9-4B6D-AAC5-F2F64D435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873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F7B20-05AA-44CE-A9C5-745D1E8B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304CEA-724E-4530-A867-49A86614A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E4FA547-25EC-4CC4-A845-A337A0A90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2AAF82-17A2-4272-AA65-0F2149571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DA8A-153A-4CFA-B755-7C4559CB519D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BE9E9DE-24F2-4D96-8F43-47AA6B95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5DCA90-5CC4-4B8D-AAE3-2A9C62CBC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1428-30E9-4B6D-AAC5-F2F64D435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309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E2C26-27E3-4C17-9522-F1C239B2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49A3FD-026A-433E-970F-2CECB8DB27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9E47F4-22F6-4A92-A92B-C2AE903EB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0C37DF-9A25-42D0-944D-1F8D26D8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DA8A-153A-4CFA-B755-7C4559CB519D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FA5B3F-9E63-43EC-9872-E2FC9E950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00F244-942C-450D-83D2-55388C96A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1428-30E9-4B6D-AAC5-F2F64D435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07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E1F87-29CE-4B7A-B538-0C715A31D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369516A-6B8D-430F-82A5-55E64CFB8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286D8F-A8E7-477E-ABA8-ABD497CB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DA8A-153A-4CFA-B755-7C4559CB519D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6C18B9-A819-4CA0-A3AB-33F5FFC5A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E8734D-060C-4CFA-B734-DEEF4AD1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1428-30E9-4B6D-AAC5-F2F64D435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142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555E394-08E3-434A-B318-A65E3976A9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64516E-F5CD-42F6-988C-C26E6ADE8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C8C815-3C23-41A2-8885-5C373D10F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6DA8A-153A-4CFA-B755-7C4559CB519D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1E3601-32FA-4E29-B7B7-7B0892927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E379CD-94B1-4959-B6E4-EEAC6EAD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1428-30E9-4B6D-AAC5-F2F64D435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276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B5E259-26B1-4FA5-B068-8CF1DC74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6982D4-56E3-4DC5-B7BE-77C584E37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D4B320-85E1-491B-A9CC-43BAACC46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6DA8A-153A-4CFA-B755-7C4559CB519D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55541A-0C60-4168-93FF-A48AA3EEC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F3B1A3-3501-4891-B0F7-E5F246414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11428-30E9-4B6D-AAC5-F2F64D4357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27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0A5DE7B-3CC4-4A92-9613-02F1C15F6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4161"/>
            <a:ext cx="9144000" cy="2428444"/>
          </a:xfrm>
        </p:spPr>
        <p:txBody>
          <a:bodyPr>
            <a:normAutofit/>
          </a:bodyPr>
          <a:lstStyle/>
          <a:p>
            <a:r>
              <a:rPr lang="ru-RU" sz="4000" b="1" dirty="0"/>
              <a:t>Дипломный проект</a:t>
            </a:r>
            <a:br>
              <a:rPr lang="ru-RU" sz="4000" dirty="0"/>
            </a:br>
            <a:br>
              <a:rPr lang="ru-RU" sz="4000" dirty="0"/>
            </a:br>
            <a:r>
              <a:rPr lang="ru-RU" sz="4000" dirty="0"/>
              <a:t>Веб-приложение спортивного клуба «Авиатор»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C1E29A6-9C37-4A75-848B-78BAD4961AD5}"/>
              </a:ext>
            </a:extLst>
          </p:cNvPr>
          <p:cNvSpPr/>
          <p:nvPr/>
        </p:nvSpPr>
        <p:spPr>
          <a:xfrm>
            <a:off x="3048000" y="18683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(ГБПОУИО «ИАТ»)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5CF42E-6B4F-49F8-8AE9-768958CB3AB8}"/>
              </a:ext>
            </a:extLst>
          </p:cNvPr>
          <p:cNvSpPr txBox="1"/>
          <p:nvPr/>
        </p:nvSpPr>
        <p:spPr>
          <a:xfrm>
            <a:off x="8200922" y="5606599"/>
            <a:ext cx="36626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Зимин Г.М.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ИС-22-2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Чернигов П.Н.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58E3F8-22C7-4691-80CA-542950B01BA6}"/>
              </a:ext>
            </a:extLst>
          </p:cNvPr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Иркутск 2026</a:t>
            </a:r>
          </a:p>
        </p:txBody>
      </p:sp>
    </p:spTree>
    <p:extLst>
      <p:ext uri="{BB962C8B-B14F-4D97-AF65-F5344CB8AC3E}">
        <p14:creationId xmlns:p14="http://schemas.microsoft.com/office/powerpoint/2010/main" val="3946930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F3DC6E0-480D-4D40-8F7D-EC688C63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Цель и задачи дипломного проекта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09785AA-0962-4218-AD8D-03222AB8E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Цель</a:t>
            </a:r>
            <a:r>
              <a:rPr lang="en-US" dirty="0"/>
              <a:t>:</a:t>
            </a:r>
            <a:r>
              <a:rPr lang="ru-RU" dirty="0"/>
              <a:t> разработать веб-приложение «Курсы игры на гитаре» в виде обучающей платформы.</a:t>
            </a:r>
          </a:p>
          <a:p>
            <a:pPr marL="0" indent="0">
              <a:buNone/>
            </a:pPr>
            <a:r>
              <a:rPr lang="ru-RU" dirty="0"/>
              <a:t>Задачи дипломного продукта</a:t>
            </a:r>
            <a:r>
              <a:rPr lang="en-US" dirty="0"/>
              <a:t>:</a:t>
            </a:r>
            <a:endParaRPr lang="ru-RU" dirty="0"/>
          </a:p>
          <a:p>
            <a:pPr lvl="0"/>
            <a:r>
              <a:rPr lang="ru-RU" dirty="0"/>
              <a:t>Описание предметной области ПП.</a:t>
            </a:r>
          </a:p>
          <a:p>
            <a:pPr lvl="0"/>
            <a:r>
              <a:rPr lang="ru-RU" dirty="0"/>
              <a:t>Анализ инструментальных средств разработки.</a:t>
            </a:r>
          </a:p>
          <a:p>
            <a:pPr lvl="0"/>
            <a:r>
              <a:rPr lang="ru-RU" dirty="0"/>
              <a:t>Разработка технического задания.</a:t>
            </a:r>
          </a:p>
          <a:p>
            <a:pPr lvl="0"/>
            <a:r>
              <a:rPr lang="ru-RU" dirty="0"/>
              <a:t>Проектирование ПП.</a:t>
            </a:r>
          </a:p>
          <a:p>
            <a:pPr lvl="0"/>
            <a:r>
              <a:rPr lang="ru-RU" dirty="0"/>
              <a:t>Разработка клиентской части продукта.</a:t>
            </a:r>
          </a:p>
          <a:p>
            <a:pPr lvl="0"/>
            <a:r>
              <a:rPr lang="ru-RU" dirty="0"/>
              <a:t>Разработка базы данных.</a:t>
            </a:r>
          </a:p>
          <a:p>
            <a:pPr lvl="0"/>
            <a:r>
              <a:rPr lang="ru-RU" dirty="0"/>
              <a:t>Разработка серверной части продукта.</a:t>
            </a:r>
          </a:p>
          <a:p>
            <a:pPr lvl="0"/>
            <a:r>
              <a:rPr lang="ru-RU" dirty="0"/>
              <a:t>Объединение базы данных, клиентской и серверной частей продукта.</a:t>
            </a:r>
          </a:p>
          <a:p>
            <a:pPr lvl="0"/>
            <a:r>
              <a:rPr lang="ru-RU" dirty="0"/>
              <a:t>Тестирование и устранение ошибок.</a:t>
            </a:r>
          </a:p>
          <a:p>
            <a:pPr lvl="0"/>
            <a:r>
              <a:rPr lang="ru-RU" dirty="0"/>
              <a:t>Оформление пользовательской документации.</a:t>
            </a:r>
          </a:p>
          <a:p>
            <a:pPr>
              <a:buFont typeface="Wingdings" panose="05000000000000000000" pitchFamily="2" charset="2"/>
              <a:buChar char="§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8039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5642BC5-7A4D-43EC-9358-6F6AE957A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512" y="174640"/>
            <a:ext cx="5781707" cy="1325563"/>
          </a:xfrm>
        </p:spPr>
        <p:txBody>
          <a:bodyPr>
            <a:normAutofit/>
          </a:bodyPr>
          <a:lstStyle/>
          <a:p>
            <a:r>
              <a:rPr lang="ru-RU" sz="3600" b="1" dirty="0"/>
              <a:t>Предметная область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33A8F65-2C61-4E64-B0B2-8A848BC9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649" y="1909762"/>
            <a:ext cx="5097379" cy="3038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Предметной областью дипломного проекта является организация спортивной деятельности в ГБПОУИО «ИАТ» с использованием веб-приложения спортивного клуба авиатор.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179921-5D46-4D1D-8CC0-3A7DF745F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617" y="1379135"/>
            <a:ext cx="3887203" cy="518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75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35B112D7-37AE-468C-A594-362F8E107DFF}"/>
              </a:ext>
            </a:extLst>
          </p:cNvPr>
          <p:cNvSpPr txBox="1">
            <a:spLocks/>
          </p:cNvSpPr>
          <p:nvPr/>
        </p:nvSpPr>
        <p:spPr>
          <a:xfrm>
            <a:off x="1699404" y="-100195"/>
            <a:ext cx="998256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/>
              <a:t>Инструментальные средства разработки</a:t>
            </a:r>
          </a:p>
        </p:txBody>
      </p:sp>
      <p:graphicFrame>
        <p:nvGraphicFramePr>
          <p:cNvPr id="5" name="Таблица 2">
            <a:extLst>
              <a:ext uri="{FF2B5EF4-FFF2-40B4-BE49-F238E27FC236}">
                <a16:creationId xmlns:a16="http://schemas.microsoft.com/office/drawing/2014/main" id="{0AB9093C-D970-41B1-AB80-3C8E27CBD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278231"/>
              </p:ext>
            </p:extLst>
          </p:nvPr>
        </p:nvGraphicFramePr>
        <p:xfrm>
          <a:off x="510028" y="988185"/>
          <a:ext cx="11171940" cy="4331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3980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71212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программного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Draw.io, Visio, MySQL Workbench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Управление базой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MySQL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79013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 Studio Code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PHP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Разработка(фреймворки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 библиотеки)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Laravel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PHPUnit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k6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512366"/>
                  </a:ext>
                </a:extLst>
              </a:tr>
            </a:tbl>
          </a:graphicData>
        </a:graphic>
      </p:graphicFrame>
      <p:sp>
        <p:nvSpPr>
          <p:cNvPr id="6" name="AutoShape 4" descr="Visual Studio Code Logo Vector SVG Icon - SVG Repo">
            <a:extLst>
              <a:ext uri="{FF2B5EF4-FFF2-40B4-BE49-F238E27FC236}">
                <a16:creationId xmlns:a16="http://schemas.microsoft.com/office/drawing/2014/main" id="{A7FE9B03-B708-411A-8A9A-6A56909885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Picture 2" descr="https://avatars.mds.yandex.net/i?id=0c95e91863ce19b478106b6405121641158b779d-4960885-images-thumbs&amp;n=13">
            <a:extLst>
              <a:ext uri="{FF2B5EF4-FFF2-40B4-BE49-F238E27FC236}">
                <a16:creationId xmlns:a16="http://schemas.microsoft.com/office/drawing/2014/main" id="{181A3B42-5D23-4846-84C6-B0F118EA82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28"/>
          <a:stretch/>
        </p:blipFill>
        <p:spPr bwMode="auto">
          <a:xfrm>
            <a:off x="4734457" y="1430787"/>
            <a:ext cx="563217" cy="56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https://avatars.mds.yandex.net/i?id=cccc7fe6be76c34eb0cb301655ce0067085c47fa-5234419-images-thumbs&amp;n=13">
            <a:extLst>
              <a:ext uri="{FF2B5EF4-FFF2-40B4-BE49-F238E27FC236}">
                <a16:creationId xmlns:a16="http://schemas.microsoft.com/office/drawing/2014/main" id="{9A3C74B4-3B4D-41AA-B224-018535CFCA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9" t="3150" r="6207" b="11631"/>
          <a:stretch/>
        </p:blipFill>
        <p:spPr bwMode="auto">
          <a:xfrm>
            <a:off x="5818147" y="2773698"/>
            <a:ext cx="561910" cy="57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https://avatars.mds.yandex.net/i?id=33b8656b808466624590987098f31cfedb1a006d-10929043-images-thumbs&amp;n=13">
            <a:extLst>
              <a:ext uri="{FF2B5EF4-FFF2-40B4-BE49-F238E27FC236}">
                <a16:creationId xmlns:a16="http://schemas.microsoft.com/office/drawing/2014/main" id="{99CF5D56-EE25-4CF3-9154-CA161A617F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2" t="14808" r="53333" b="13817"/>
          <a:stretch/>
        </p:blipFill>
        <p:spPr bwMode="auto">
          <a:xfrm>
            <a:off x="5745498" y="1393676"/>
            <a:ext cx="581941" cy="59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471CBE4-BD7C-4B46-90C3-009F7787F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507" y="3980496"/>
            <a:ext cx="1163555" cy="77570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3446F9-4BB6-4976-AA42-173C45F20A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690" t="11293" r="24660" b="13355"/>
          <a:stretch/>
        </p:blipFill>
        <p:spPr>
          <a:xfrm>
            <a:off x="5748210" y="3359988"/>
            <a:ext cx="694266" cy="632190"/>
          </a:xfrm>
          <a:prstGeom prst="rect">
            <a:avLst/>
          </a:prstGeom>
        </p:spPr>
      </p:pic>
      <p:pic>
        <p:nvPicPr>
          <p:cNvPr id="12" name="Picture 2" descr="Picture background">
            <a:extLst>
              <a:ext uri="{FF2B5EF4-FFF2-40B4-BE49-F238E27FC236}">
                <a16:creationId xmlns:a16="http://schemas.microsoft.com/office/drawing/2014/main" id="{15076694-9721-4D98-8099-628767A66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406" y="4650797"/>
            <a:ext cx="872488" cy="72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Picture background">
            <a:extLst>
              <a:ext uri="{FF2B5EF4-FFF2-40B4-BE49-F238E27FC236}">
                <a16:creationId xmlns:a16="http://schemas.microsoft.com/office/drawing/2014/main" id="{E486E5E9-AD89-4885-9333-18536E066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188" y="1377836"/>
            <a:ext cx="657378" cy="65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Picture background">
            <a:extLst>
              <a:ext uri="{FF2B5EF4-FFF2-40B4-BE49-F238E27FC236}">
                <a16:creationId xmlns:a16="http://schemas.microsoft.com/office/drawing/2014/main" id="{22E6816A-8B89-47F6-8675-4F256BE08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507" y="2112839"/>
            <a:ext cx="1163555" cy="60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Picture background">
            <a:extLst>
              <a:ext uri="{FF2B5EF4-FFF2-40B4-BE49-F238E27FC236}">
                <a16:creationId xmlns:a16="http://schemas.microsoft.com/office/drawing/2014/main" id="{E30C7BDD-9592-4C2F-8A13-B05CA55A4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1" y="4703630"/>
            <a:ext cx="582168" cy="56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950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344181E-0868-4555-BBC7-7159032D98A4}"/>
              </a:ext>
            </a:extLst>
          </p:cNvPr>
          <p:cNvSpPr txBox="1">
            <a:spLocks/>
          </p:cNvSpPr>
          <p:nvPr/>
        </p:nvSpPr>
        <p:spPr>
          <a:xfrm>
            <a:off x="195309" y="159798"/>
            <a:ext cx="7918881" cy="719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/>
              <a:t>Проектирование программного продукта </a:t>
            </a:r>
            <a:r>
              <a:rPr lang="en-US" sz="3600" b="1" dirty="0"/>
              <a:t>:</a:t>
            </a:r>
            <a:endParaRPr lang="ru-RU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76BE3-73D4-4643-8F7D-6B40E0A45EDB}"/>
              </a:ext>
            </a:extLst>
          </p:cNvPr>
          <p:cNvSpPr txBox="1"/>
          <p:nvPr/>
        </p:nvSpPr>
        <p:spPr>
          <a:xfrm>
            <a:off x="1870229" y="1438784"/>
            <a:ext cx="2698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Диаграмма прецедентов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E2AEF-3659-4BA3-8453-E21CAEF091BF}"/>
              </a:ext>
            </a:extLst>
          </p:cNvPr>
          <p:cNvSpPr txBox="1"/>
          <p:nvPr/>
        </p:nvSpPr>
        <p:spPr>
          <a:xfrm>
            <a:off x="7619999" y="1438784"/>
            <a:ext cx="2698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Диаграмма деятельности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0C5916-6A42-4A15-951A-D714E3CE75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5308" y="1808116"/>
            <a:ext cx="5900691" cy="4890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5CDA9D3-9059-426B-BE0D-83E56B001CD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77559" y="1808116"/>
            <a:ext cx="5719133" cy="48900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039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12FAC67-BA6D-498D-A0AA-A33CC86B3413}"/>
              </a:ext>
            </a:extLst>
          </p:cNvPr>
          <p:cNvSpPr txBox="1"/>
          <p:nvPr/>
        </p:nvSpPr>
        <p:spPr>
          <a:xfrm>
            <a:off x="1945820" y="1757520"/>
            <a:ext cx="366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Контекстная диаграмма IDEF0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27877-DC14-40C6-9809-BD01E0869992}"/>
              </a:ext>
            </a:extLst>
          </p:cNvPr>
          <p:cNvSpPr txBox="1"/>
          <p:nvPr/>
        </p:nvSpPr>
        <p:spPr>
          <a:xfrm>
            <a:off x="7777865" y="1757520"/>
            <a:ext cx="337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Диаграмма декомпозиций А1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B471BCD2-CAA6-46EB-A61A-E0402B276583}"/>
              </a:ext>
            </a:extLst>
          </p:cNvPr>
          <p:cNvSpPr txBox="1">
            <a:spLocks/>
          </p:cNvSpPr>
          <p:nvPr/>
        </p:nvSpPr>
        <p:spPr>
          <a:xfrm>
            <a:off x="195309" y="159798"/>
            <a:ext cx="7918881" cy="719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/>
              <a:t>Проектирование программного продукта</a:t>
            </a:r>
            <a:r>
              <a:rPr lang="en-US" sz="3600" b="1" dirty="0"/>
              <a:t>:</a:t>
            </a:r>
            <a:endParaRPr lang="ru-RU" sz="3600" b="1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2C373E3-BC7F-46F2-8489-7CB576E9DA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5309" y="2126852"/>
            <a:ext cx="6021341" cy="4571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AEFA4A7-E423-4886-8516-C4B6311A532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00800" y="2126852"/>
            <a:ext cx="5595891" cy="45713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1569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79B9DAE-D408-4533-BBE9-086EAEAB5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468" y="228399"/>
            <a:ext cx="6423734" cy="833360"/>
          </a:xfrm>
        </p:spPr>
        <p:txBody>
          <a:bodyPr>
            <a:normAutofit/>
          </a:bodyPr>
          <a:lstStyle/>
          <a:p>
            <a:r>
              <a:rPr lang="ru-RU" sz="3600" dirty="0"/>
              <a:t>Проектирование базы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6F5275-A208-4A7D-8852-5A255AFCE7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1684" y="930442"/>
            <a:ext cx="10684041" cy="56991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0348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82290BE-9186-4F12-869F-A8CF2FD1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Тестирование программного продукта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B250FA6-1CB3-4541-B01F-E569D3A1B3B4}"/>
              </a:ext>
            </a:extLst>
          </p:cNvPr>
          <p:cNvSpPr txBox="1">
            <a:spLocks/>
          </p:cNvSpPr>
          <p:nvPr/>
        </p:nvSpPr>
        <p:spPr>
          <a:xfrm>
            <a:off x="145944" y="1690688"/>
            <a:ext cx="4206092" cy="1801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Вид тестирования программного продукта: функциональное и нагрузочное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13CF7C-07E9-47EC-8F3C-540FAA6D28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363717" y="1690688"/>
            <a:ext cx="4978401" cy="26838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881425E-4A95-46C1-B0E0-C0DA271B3D0D}"/>
              </a:ext>
            </a:extLst>
          </p:cNvPr>
          <p:cNvSpPr txBox="1">
            <a:spLocks/>
          </p:cNvSpPr>
          <p:nvPr/>
        </p:nvSpPr>
        <p:spPr>
          <a:xfrm>
            <a:off x="360462" y="4125943"/>
            <a:ext cx="11471076" cy="1801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/>
              <a:t>Тестирование проводилось для проверки модулей авторизации, открытие списка студентов, открытие профиля студента, назначение физического организатора преподавателем.</a:t>
            </a:r>
          </a:p>
        </p:txBody>
      </p:sp>
    </p:spTree>
    <p:extLst>
      <p:ext uri="{BB962C8B-B14F-4D97-AF65-F5344CB8AC3E}">
        <p14:creationId xmlns:p14="http://schemas.microsoft.com/office/powerpoint/2010/main" val="2727595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CF12C63-82E6-42C8-8DEC-2F846398D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728" y="2637810"/>
            <a:ext cx="8288045" cy="1055302"/>
          </a:xfrm>
        </p:spPr>
        <p:txBody>
          <a:bodyPr>
            <a:normAutofit fontScale="90000"/>
          </a:bodyPr>
          <a:lstStyle/>
          <a:p>
            <a:r>
              <a:rPr lang="ru-RU" dirty="0"/>
              <a:t>Демонстрация дипломного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1422808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73A4AC1-BE1C-410F-9B79-69FB4FEC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870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Вывод</a:t>
            </a:r>
          </a:p>
        </p:txBody>
      </p:sp>
      <p:graphicFrame>
        <p:nvGraphicFramePr>
          <p:cNvPr id="11" name="Объект 5">
            <a:extLst>
              <a:ext uri="{FF2B5EF4-FFF2-40B4-BE49-F238E27FC236}">
                <a16:creationId xmlns:a16="http://schemas.microsoft.com/office/drawing/2014/main" id="{7539DF11-80DB-4362-BB73-88BE835647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5498114"/>
              </p:ext>
            </p:extLst>
          </p:nvPr>
        </p:nvGraphicFramePr>
        <p:xfrm>
          <a:off x="838200" y="1071480"/>
          <a:ext cx="10515600" cy="5614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879961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72443236"/>
                    </a:ext>
                  </a:extLst>
                </a:gridCol>
              </a:tblGrid>
              <a:tr h="49336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Виды деятельности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Функциональные задачи программного продукта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85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Осуществление интеграции с программным модулем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Выполнение отладки программного модуля с использованием специализированных программных средств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07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Ревьюирование программного кода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Осуществление ревьюирования программного кода в соответствии с технической документацией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904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Проектирование и разработка веб-приложения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Разработка модулей веб-приложения в соответствии с техническим заданием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Сопровождение веб-приложения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Исправление ошибок в программном коде веб-приложения.</a:t>
                      </a:r>
                    </a:p>
                    <a:p>
                      <a:r>
                        <a:rPr lang="ru-RU" dirty="0"/>
                        <a:t>Разработка обучающей документации для пользователей веб-приложения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89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Соадминистрирование баз данных и серверов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Формирование требований к конфигурации локальных компьютерных сетей и серверного оборудования, необходимые для работы баз данных и серверов.</a:t>
                      </a:r>
                    </a:p>
                    <a:p>
                      <a:r>
                        <a:rPr lang="ru-RU" dirty="0"/>
                        <a:t>Администрирование баз данных в рамках своей компетенции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483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8196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339</Words>
  <Application>Microsoft Office PowerPoint</Application>
  <PresentationFormat>Широкоэкранный</PresentationFormat>
  <Paragraphs>68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Тема Office</vt:lpstr>
      <vt:lpstr>Дипломный проект  Веб-приложение спортивного клуба «Авиатор»</vt:lpstr>
      <vt:lpstr>Цель и задачи дипломного проекта</vt:lpstr>
      <vt:lpstr>Предметная область</vt:lpstr>
      <vt:lpstr>Презентация PowerPoint</vt:lpstr>
      <vt:lpstr>Презентация PowerPoint</vt:lpstr>
      <vt:lpstr>Презентация PowerPoint</vt:lpstr>
      <vt:lpstr>Проектирование базы данных</vt:lpstr>
      <vt:lpstr>Тестирование программного продукта</vt:lpstr>
      <vt:lpstr>Демонстрация дипломного продукта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Дипломный проект  Веб-приложение спортивного клуба «Авиатор»</dc:title>
  <dc:creator>Георгий Зимин</dc:creator>
  <cp:lastModifiedBy>Георгий Зимин</cp:lastModifiedBy>
  <cp:revision>4</cp:revision>
  <dcterms:created xsi:type="dcterms:W3CDTF">2026-05-25T00:31:49Z</dcterms:created>
  <dcterms:modified xsi:type="dcterms:W3CDTF">2026-05-25T01:20:39Z</dcterms:modified>
</cp:coreProperties>
</file>